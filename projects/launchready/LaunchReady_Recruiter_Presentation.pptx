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09615fac104bc7" /><Relationship Type="http://schemas.openxmlformats.org/officeDocument/2006/relationships/extended-properties" Target="/docProps/app.xml" Id="Rb84f3dfb0d3a4183" /><Relationship Type="http://schemas.openxmlformats.org/officeDocument/2006/relationships/officeDocument" Target="/ppt/presentation.xml" Id="R4d517e8b8cf0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351dd72314b2e"/>
  </p:sldMasterIdLst>
  <p:notesMasterIdLst>
    <p:notesMasterId xmlns:r="http://schemas.openxmlformats.org/officeDocument/2006/relationships" r:id="Redd12c9411444fce"/>
  </p:notesMasterIdLst>
  <p:sldIdLst>
    <p:sldId xmlns:r="http://schemas.openxmlformats.org/officeDocument/2006/relationships" id="256" r:id="R11983b9226e24e04"/>
    <p:sldId xmlns:r="http://schemas.openxmlformats.org/officeDocument/2006/relationships" id="257" r:id="R851aad36e6204a96"/>
    <p:sldId xmlns:r="http://schemas.openxmlformats.org/officeDocument/2006/relationships" id="258" r:id="R98742288640c4cc8"/>
    <p:sldId xmlns:r="http://schemas.openxmlformats.org/officeDocument/2006/relationships" id="259" r:id="R82f270ab97dc4b35"/>
    <p:sldId xmlns:r="http://schemas.openxmlformats.org/officeDocument/2006/relationships" id="260" r:id="R69b42099ee7b45c8"/>
    <p:sldId xmlns:r="http://schemas.openxmlformats.org/officeDocument/2006/relationships" id="261" r:id="Rb42765d78bd64d3a"/>
    <p:sldId xmlns:r="http://schemas.openxmlformats.org/officeDocument/2006/relationships" id="262" r:id="R5920ae00c48d470f"/>
    <p:sldId xmlns:r="http://schemas.openxmlformats.org/officeDocument/2006/relationships" id="263" r:id="R1d9c81a9404c4e65"/>
    <p:sldId xmlns:r="http://schemas.openxmlformats.org/officeDocument/2006/relationships" id="264" r:id="R80402cb6f0434a30"/>
    <p:sldId xmlns:r="http://schemas.openxmlformats.org/officeDocument/2006/relationships" id="265" r:id="R3cd08c52a3eb42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12934b9244e64" /><Relationship Type="http://schemas.openxmlformats.org/officeDocument/2006/relationships/slideMaster" Target="/ppt/slideMasters/slideMaster1.xml" Id="R92c351dd72314b2e" /><Relationship Type="http://schemas.openxmlformats.org/officeDocument/2006/relationships/notesMaster" Target="/ppt/notesMasters/notesMaster1.xml" Id="Redd12c9411444fce" /><Relationship Type="http://schemas.openxmlformats.org/officeDocument/2006/relationships/presProps" Target="/ppt/presProps.xml" Id="Rb8c4699c04ee497e" /><Relationship Type="http://schemas.openxmlformats.org/officeDocument/2006/relationships/tableStyles" Target="/ppt/tableStyles.xml" Id="R02b733cf63474336" /><Relationship Type="http://schemas.openxmlformats.org/officeDocument/2006/relationships/slide" Target="/ppt/slides/slide1.xml" Id="R11983b9226e24e04" /><Relationship Type="http://schemas.openxmlformats.org/officeDocument/2006/relationships/slide" Target="/ppt/slides/slide2.xml" Id="R851aad36e6204a96" /><Relationship Type="http://schemas.openxmlformats.org/officeDocument/2006/relationships/slide" Target="/ppt/slides/slide3.xml" Id="R98742288640c4cc8" /><Relationship Type="http://schemas.openxmlformats.org/officeDocument/2006/relationships/slide" Target="/ppt/slides/slide4.xml" Id="R82f270ab97dc4b35" /><Relationship Type="http://schemas.openxmlformats.org/officeDocument/2006/relationships/slide" Target="/ppt/slides/slide5.xml" Id="R69b42099ee7b45c8" /><Relationship Type="http://schemas.openxmlformats.org/officeDocument/2006/relationships/slide" Target="/ppt/slides/slide6.xml" Id="Rb42765d78bd64d3a" /><Relationship Type="http://schemas.openxmlformats.org/officeDocument/2006/relationships/slide" Target="/ppt/slides/slide7.xml" Id="R5920ae00c48d470f" /><Relationship Type="http://schemas.openxmlformats.org/officeDocument/2006/relationships/slide" Target="/ppt/slides/slide8.xml" Id="R1d9c81a9404c4e65" /><Relationship Type="http://schemas.openxmlformats.org/officeDocument/2006/relationships/slide" Target="/ppt/slides/slide9.xml" Id="R80402cb6f0434a30" /><Relationship Type="http://schemas.openxmlformats.org/officeDocument/2006/relationships/slide" Target="/ppt/slides/slide10.xml" Id="R3cd08c52a3eb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50acfe11c0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de9fe22942468e" /><Relationship Type="http://schemas.openxmlformats.org/officeDocument/2006/relationships/notesMaster" Target="/ppt/notesMasters/notesMaster1.xml" Id="R38b397f93d9f4d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fcbe363a3b4b22" /><Relationship Type="http://schemas.openxmlformats.org/officeDocument/2006/relationships/notesMaster" Target="/ppt/notesMasters/notesMaster1.xml" Id="R2a16bd47732e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d985fb3a4a41ed" /><Relationship Type="http://schemas.openxmlformats.org/officeDocument/2006/relationships/notesMaster" Target="/ppt/notesMasters/notesMaster1.xml" Id="R8583adf2acf3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8c59123b5d44d7" /><Relationship Type="http://schemas.openxmlformats.org/officeDocument/2006/relationships/notesMaster" Target="/ppt/notesMasters/notesMaster1.xml" Id="R7e7b9cd73116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b3bba24114c9b" /><Relationship Type="http://schemas.openxmlformats.org/officeDocument/2006/relationships/notesMaster" Target="/ppt/notesMasters/notesMaster1.xml" Id="R21e430588a9740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d8837aa6bc4b80" /><Relationship Type="http://schemas.openxmlformats.org/officeDocument/2006/relationships/notesMaster" Target="/ppt/notesMasters/notesMaster1.xml" Id="R91515803f8814d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dfa537d1144240" /><Relationship Type="http://schemas.openxmlformats.org/officeDocument/2006/relationships/notesMaster" Target="/ppt/notesMasters/notesMaster1.xml" Id="R5a46b84ecd8f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af8fc11038413f" /><Relationship Type="http://schemas.openxmlformats.org/officeDocument/2006/relationships/notesMaster" Target="/ppt/notesMasters/notesMaster1.xml" Id="R62841ade5b104f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fa379a790e4992" /><Relationship Type="http://schemas.openxmlformats.org/officeDocument/2006/relationships/notesMaster" Target="/ppt/notesMasters/notesMaster1.xml" Id="R544cb73ff6bc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321d3707f44b9a" /><Relationship Type="http://schemas.openxmlformats.org/officeDocument/2006/relationships/notesMaster" Target="/ppt/notesMasters/notesMaster1.xml" Id="Ra95a78b8e34f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7fcf59f86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4406dcf044059" /><Relationship Type="http://schemas.openxmlformats.org/officeDocument/2006/relationships/slideLayout" Target="/ppt/slideLayouts/slideLayout1.xml" Id="Rf48566f1f419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566f1f419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e22c26ce44de" /><Relationship Type="http://schemas.openxmlformats.org/officeDocument/2006/relationships/notesSlide" Target="/ppt/notesSlides/notesSlide1.xml" Id="R5dc32cebe4b0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99c5d9eea4af5" /><Relationship Type="http://schemas.openxmlformats.org/officeDocument/2006/relationships/notesSlide" Target="/ppt/notesSlides/notesSlide2.xml" Id="Ra207cb50c7fa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7d30f0ed4623" /><Relationship Type="http://schemas.openxmlformats.org/officeDocument/2006/relationships/notesSlide" Target="/ppt/notesSlides/notesSlide3.xml" Id="R7d35e7331193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99665b1f4a04" /><Relationship Type="http://schemas.openxmlformats.org/officeDocument/2006/relationships/notesSlide" Target="/ppt/notesSlides/notesSlide4.xml" Id="R4ed1d980cf07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956ac1f8047ba" /><Relationship Type="http://schemas.openxmlformats.org/officeDocument/2006/relationships/notesSlide" Target="/ppt/notesSlides/notesSlide5.xml" Id="R6dbb5b69450e41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044d9190e4d07" /><Relationship Type="http://schemas.openxmlformats.org/officeDocument/2006/relationships/image" Target="/ppt/media/image.png" Id="R2d1709f9740f4bea" /><Relationship Type="http://schemas.openxmlformats.org/officeDocument/2006/relationships/notesSlide" Target="/ppt/notesSlides/notesSlide6.xml" Id="Rf27cc7ceab6443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3012b1af4e68" /><Relationship Type="http://schemas.openxmlformats.org/officeDocument/2006/relationships/image" Target="/ppt/media/image2.png" Id="R83d88c7f4ef4491d" /><Relationship Type="http://schemas.openxmlformats.org/officeDocument/2006/relationships/notesSlide" Target="/ppt/notesSlides/notesSlide7.xml" Id="Rc87fc60a6abe42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c86a58e9d4f20" /><Relationship Type="http://schemas.openxmlformats.org/officeDocument/2006/relationships/notesSlide" Target="/ppt/notesSlides/notesSlide8.xml" Id="R300b261ce85d4c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2c476057a496e" /><Relationship Type="http://schemas.openxmlformats.org/officeDocument/2006/relationships/chart" Target="/ppt/slides/charts/chart1.xml" Id="Rd6535cf419e045ae" /><Relationship Type="http://schemas.openxmlformats.org/officeDocument/2006/relationships/notesSlide" Target="/ppt/notesSlides/notesSlide9.xml" Id="R0e74aa2e2d2440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0acafc2d44189" /><Relationship Type="http://schemas.openxmlformats.org/officeDocument/2006/relationships/notesSlide" Target="/ppt/notesSlides/notesSlide10.xml" Id="Rbfa0006c79374cd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vs simulated Day 30 vs target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5"/>
              <c:pt idx="0">
                <c:v>Completion days</c:v>
              </c:pt>
              <c:pt idx="1">
                <c:v>Follow-up %</c:v>
              </c:pt>
              <c:pt idx="2">
                <c:v>Missing items %</c:v>
              </c:pt>
              <c:pt idx="3">
                <c:v>Emails per hire</c:v>
              </c:pt>
              <c:pt idx="4">
                <c:v>Adoption %</c:v>
              </c:pt>
            </c:strLit>
          </c:cat>
          <c:val>
            <c:numLit>
              <c:formatCode>General</c:formatCode>
              <c:ptCount val="5"/>
              <c:pt idx="0">
                <c:v>9</c:v>
              </c:pt>
              <c:pt idx="1">
                <c:v>32</c:v>
              </c:pt>
              <c:pt idx="2">
                <c:v>21</c:v>
              </c:pt>
              <c:pt idx="3">
                <c:v>14</c:v>
              </c:pt>
              <c:pt idx="4">
                <c:v>0</c:v>
              </c:pt>
            </c:numLit>
          </c:val>
        </c:ser>
        <c:ser>
          <c:idx val="1"/>
          <c:order val="1"/>
          <c:tx>
            <c:v>Day 30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Completion days</c:v>
              </c:pt>
              <c:pt idx="1">
                <c:v>Follow-up %</c:v>
              </c:pt>
              <c:pt idx="2">
                <c:v>Missing items %</c:v>
              </c:pt>
              <c:pt idx="3">
                <c:v>Emails per hire</c:v>
              </c:pt>
              <c:pt idx="4">
                <c:v>Adoption %</c:v>
              </c:pt>
            </c:strLit>
          </c:cat>
          <c:val>
            <c:numLit>
              <c:formatCode>General</c:formatCode>
              <c:ptCount val="5"/>
              <c:pt idx="0">
                <c:v>5.8</c:v>
              </c:pt>
              <c:pt idx="1">
                <c:v>12</c:v>
              </c:pt>
              <c:pt idx="2">
                <c:v>7</c:v>
              </c:pt>
              <c:pt idx="3">
                <c:v>5.4</c:v>
              </c:pt>
              <c:pt idx="4">
                <c:v>93</c:v>
              </c:pt>
            </c:numLit>
          </c:val>
        </c:ser>
        <c:ser>
          <c:idx val="2"/>
          <c:order val="2"/>
          <c:tx>
            <c:v>Target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5"/>
              <c:pt idx="0">
                <c:v>Completion days</c:v>
              </c:pt>
              <c:pt idx="1">
                <c:v>Follow-up %</c:v>
              </c:pt>
              <c:pt idx="2">
                <c:v>Missing items %</c:v>
              </c:pt>
              <c:pt idx="3">
                <c:v>Emails per hire</c:v>
              </c:pt>
              <c:pt idx="4">
                <c:v>Adoption %</c:v>
              </c:pt>
            </c:strLit>
          </c:cat>
          <c:val>
            <c:numLit>
              <c:formatCode>General</c:formatCode>
              <c:ptCount val="5"/>
              <c:pt idx="0">
                <c:v>6</c:v>
              </c:pt>
              <c:pt idx="1">
                <c:v>15</c:v>
              </c:pt>
              <c:pt idx="2">
                <c:v>8</c:v>
              </c:pt>
              <c:pt idx="3">
                <c:v>6</c:v>
              </c:pt>
              <c:pt idx="4">
                <c:v>90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549AC-02FF-44C5-AC93-1AF30B5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INDEPENDENT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9984-A808-4D7A-B66F-9CC02D6A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24D"/>
                </a:solidFill>
              </a:defRPr>
            </a:pPr>
            <a:r>
              <a:rPr sz="4800" b="1">
                <a:solidFill>
                  <a:srgbClr val="17324D"/>
                </a:solidFill>
              </a:rPr>
              <a:t>LaunchReady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1B979-4E99-43B6-9136-38F39EE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A simulated SaaS implementation from discovery through measurable 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C069F-4C14-4514-B13F-07083D2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81050"/>
            <a:ext cx="32956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C68D8-668D-4ED4-9EFD-8AA7F3A3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38250"/>
            <a:ext cx="23431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Discovery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Requirements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Data + UAT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Go-Live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30-Day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9FAEA-C735-41BB-ACD3-BCAAC58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HYDI MAQOUSI  |  Implementation Project Lead / Implementation Analyst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3C9B3-21A1-41A8-9540-ADE362F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D702F-5DB2-41A6-9C44-D34FDF9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963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F8ADC-AB43-45C8-BCC0-F6E77A27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BFA78-043F-4148-BDE3-7432F77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real problem was fragmented ownership—not just spreadsheets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64458-002C-465C-B499-1BE4F93D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8E02C-B1A1-418B-85FD-585732C2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Northstar Community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2A61-C767-4BC3-8971-1CFD265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475 employees  •  8 locations  •  25–35 hires each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0404C-1650-4521-BC3F-173097A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514C0-4E12-4BBC-A95C-57E3E2D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241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separate tracking spreadsheets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45F96-B3C4-4B3E-B842-C6DF339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B5B3-2F47-4CB3-803E-D62D097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71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internal emails per new hire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B0722-CD7A-40FF-AE00-7D07275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D06E7-0AAC-4B6C-838E-9CBA683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195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requests needing follow-up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90905-96E6-4A9C-B9D3-7500469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21%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8323A-44CE-494A-ABD2-B17A34AA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672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new hires missing a first-day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C7B48-C8F5-42BB-908F-ABEDF21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44577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8190A-DCAB-4FBF-9639-976C8FA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Priority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52552-DE52-43DF-8D5B-07F82A2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Create one source of truth for status, ownership, exceptions, and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C97E3-AEA4-4E62-88A6-377C9865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This addresses the downstream causes of rework, delays, and weak visibility.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DCD61-B656-4642-BBB8-F1DE1E2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4CC70-AFB5-4FAD-A632-BB5A2E02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8821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AD67-5F83-4B11-98C4-6E487CC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591B-1DA4-4C6E-B93C-90C4383C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future state moves coordination from inboxes to a controlled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745F6-6260-4689-B391-C0F47A7A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83E36-7DD3-48CF-96DB-0CF0323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573"/>
                </a:solidFill>
              </a:defRPr>
            </a:pPr>
            <a:r>
              <a:rPr sz="1500" b="1">
                <a:solidFill>
                  <a:srgbClr val="5B6573"/>
                </a:solidFill>
              </a:rPr>
              <a:t>CURRENT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1EFEF-7D31-48C7-A04C-0D9457B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FUTURE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3075B-2846-4D9A-BC28-2BEEAB15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572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94DB9-AF90-47EB-B583-6AF45D4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5257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002E3-72AB-406B-A52C-3EC6E02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714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Email request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Manual spreadsheet entry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Separate departmental follow-up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Unclear task ownership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Manual completion check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Inconsistent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EDFB9-852B-4F54-BA98-CDE4C4D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Validated digital intake</a:t>
            </a:r>
          </a:p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Automatic role/location tasks</a:t>
            </a:r>
          </a:p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Shared status and reminders</a:t>
            </a:r>
          </a:p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Exception-based management</a:t>
            </a:r>
          </a:p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Auditable completion</a:t>
            </a:r>
          </a:p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Operational dashboards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34695-77BD-43EB-916C-6BE4B46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DDA64-FEC7-4A09-B739-1F0BF01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A9D71-44C1-4278-AF33-396F680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1261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E86F3-6925-4EF2-A4E1-668DC72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16E82-9D6A-44AA-A8CC-947924C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Eight disciplined stages turn requirements into launch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7B163-E206-4A79-A7A8-453A4115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2E318-C0C8-462F-86DB-6FA363D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AD12A-7AEA-4F80-99F4-36B56FD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6F6C0-9887-4681-8E21-7D9F0894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9D4E6-B3F7-40F8-881A-D155650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5006-9820-4540-A4CF-398CE20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AF9D8-8A99-44E4-82ED-6831D30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1C7A-1906-4385-AC9E-BA0C7EA5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DE296-FC04-4ECF-BA72-B70C62E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830A8-1E05-4080-80F7-5A78A78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03DC3-3638-4B8B-92EB-6044AA2D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B2B3F-392F-4C71-866D-EF96ED4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85D57-9ED9-46DF-AD65-AD4BFA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F4186-DD8E-4416-AC51-AC3B635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Require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189C0-A981-4072-8785-0186E583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D5E22-B25B-4098-9A2F-B1D23D3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7D194-B6D8-4ACC-96AE-516BAAA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E7228-BDA0-4DE0-BC11-0ECC1908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EC7A7-9A7B-4215-A379-AF915CCF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D43C2-8D1F-42F0-AE20-395F4ED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Configure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A13F0-971E-4673-A8A8-F4AB8AE7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F541F-BAA2-42F8-A41A-4F69EE6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9B6B5-0225-45A3-98B4-FD9F3F53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Validate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A10D3-6C5B-46F5-BFF3-4B7404BC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7F422-C91C-4AAC-9F28-66A3C4F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80BD9-25A8-46C7-B0B6-7C8309F4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E00CC-4E10-4190-A57C-1E442E1C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4A479-04AA-4DE1-83AA-5A4A0A0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E1CEE-63F0-4DD6-B964-0D118A81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Enable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E6FFD-9AD2-4042-8F50-25571E6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57500"/>
            <a:ext cx="110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4024E-B07D-4423-98C6-4F51505B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71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417EF-4367-4E63-BEEE-1B79C755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38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Launch +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2CF25A-655F-4BB8-AFF8-257782F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14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The traceability matrix connects every approved requirement to configuration, test evidence, and delivery status.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6CF89-1B0D-4230-82E1-DD4202F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43B60-19AE-4628-A256-84B9B39A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5027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3297D-577A-4B12-AFF9-7326998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3B697-9493-4B61-A3E0-631D7B5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Requirements were written to be testable and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50CD7-54CC-4944-BDBA-6FFA4E1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53E48-9938-4288-B20A-8EA90E0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</a:defRPr>
            </a:pPr>
            <a:r>
              <a:rPr sz="1275" b="1">
                <a:solidFill>
                  <a:srgbClr val="5B6573"/>
                </a:solidFill>
              </a:rPr>
              <a:t>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71D6-0EC2-418A-9F8E-5175891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</a:defRPr>
            </a:pPr>
            <a:r>
              <a:rPr sz="1275" b="1">
                <a:solidFill>
                  <a:srgbClr val="5B6573"/>
                </a:solidFill>
              </a:rPr>
              <a:t>EXPECTED PLATFORM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BA68F-BE56-4701-81B7-10A14FE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</a:defRPr>
            </a:pPr>
            <a:r>
              <a:rPr sz="1275" b="1">
                <a:solidFill>
                  <a:srgbClr val="5B6573"/>
                </a:solidFill>
              </a:rPr>
              <a:t>TEST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089C2-AD52-4A40-BBEE-7C0F8F51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1065D-0FA6-4C63-BDBD-0139EA1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FR-01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463F-5227-4DB5-8F79-77522704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Block incomplete manager submissions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6CA41-79C6-410D-A927-7DBA951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TC-01 / TC-02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0A647-4FB7-45D5-9E44-D2C7981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EE55C-9469-4F65-8B28-0D563D87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FR-02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E9EFD-0A0F-43F8-B80C-8D81456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Generate tasks by role and 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A0E72-8EB6-44B4-A568-8E11E8B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TC-03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295E5-4CA8-4E77-B0E2-B26B998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63F03-51BF-4747-AA5F-FEC91F3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DR-02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4E9CE-4AE8-4010-B4BD-CF3377A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Reject invalid and duplicate import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89961-2463-4BD9-A56E-18F31E3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TC-10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35609-C216-4DF5-997F-D4FCE28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2A77F-174D-4AEF-B1DC-1BFE3FB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SR-01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FCFE0-9D53-4D2F-AB08-89D324AB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Enforce role-based least privilege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19E5D-D41A-4EAF-B94F-C5864BF0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62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TC-06 / TC-07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93B6D-A17F-4720-B648-4F86827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D3AFE-7F85-4B5F-B34E-6D2E273C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RR-01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A709D-B373-48B7-8C4F-EB99BF5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Reconcile operational dashboard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78541-867C-424D-BCDA-5C456EDB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29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TC-08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66820-7C75-4811-AA46-F4E0D07C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E01C3-FC60-4A8E-AA1F-7E7294B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0138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3E638-16E3-4842-9F61-62FDF6B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BBFF-34E3-400A-9BA4-CCECF812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Intentional data errors make the validation work defensible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7B7C7-567E-40A9-981C-A54FE98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E00B0-D8C9-449C-ACD8-C794AE4D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sample import includes invalid email, missing start date, bad location code, duplicate ID, missing manager, and nonstandard date.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709f9740f4bea"/>
          <a:stretch xmlns:a="http://schemas.openxmlformats.org/drawingml/2006/main"/>
        </p:blipFill>
        <p:spPr>
          <a:xfrm xmlns:a="http://schemas.openxmlformats.org/drawingml/2006/main">
            <a:off x="685800" y="3264286"/>
            <a:ext cx="7620000" cy="16629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32E44-E2F2-41E2-A790-E9C51D0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933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4882E-ACC7-428F-81BA-5CF156B0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VALIDATION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33D33-9D87-424E-9DC0-E203C345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09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1. Profile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2. Map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3. Validate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4. Reject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5. Correct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6. Revalidate</a:t>
            </a:r>
          </a:p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7. Approve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E4A8B-E995-4C2C-B2A6-A573596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0EED5-11AD-470E-8C40-8CA48575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5036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816DC-EF5C-4E62-8C6B-89E504F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2F97D-02B2-4D50-9C02-7F1815C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UAT produced a clear, evidence-based launch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DCD9D-9E53-41CE-9B21-FCD35ECB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8c7f4ef4491d"/>
          <a:stretch xmlns:a="http://schemas.openxmlformats.org/drawingml/2006/main"/>
        </p:blipFill>
        <p:spPr>
          <a:xfrm xmlns:a="http://schemas.openxmlformats.org/drawingml/2006/main">
            <a:off x="685800" y="2756715"/>
            <a:ext cx="7239000" cy="20113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73DB2-3069-4579-ADBC-0C7AEBE8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74158-5DB0-4D34-9D38-CAE6C6A1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overall pass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B2649-0B33-4258-BB23-B869BAA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A9D8F"/>
                </a:solidFill>
              </a:defRPr>
            </a:pPr>
            <a:r>
              <a:rPr sz="3600" b="1">
                <a:solidFill>
                  <a:srgbClr val="2A9D8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5467B-0AAC-4D3A-AA33-5C01942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open critical/high defects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79BEC-DD29-445E-9FCE-E1A0A652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02069-48A9-45ED-964F-CCCCB1A5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815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One medium defect accepted with a documented workaround and Phase 2 fix.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1FBB7-AD2B-4C8A-BFA5-949D1A6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B59BB-245A-4270-8473-BD1D034C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8100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88863-69B9-476A-AE64-4AE7AAD7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259BF-ED1A-429D-9B71-2A97573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weighted readiness model replaced “we feel ready”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E752E-D50F-4F28-BD6D-0EB7667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D8D7-771D-4A44-841F-175973D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4BA94-FE40-4F02-8FEE-764B211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62E15-6A8A-4E19-A188-21B9C7F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903BF-2194-43A1-B1B1-D1A7D83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2DF2D-FE54-40B5-99BF-31A5A96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CE92B-AC2D-4F67-8BFE-12803D3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6D571-122D-4BAB-9931-EFB56EAA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1928C-0DBE-4B01-9E85-C384D0A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BD974-2EBA-4017-8015-BD8CBF3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71E75-D701-4B75-B6EB-7481B285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UAT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6C631-165A-44B7-82A8-23EE854E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D300D-87AA-4C96-91ED-3A607C0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6BDF0-4DDA-4B89-B83B-28EB4B16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DAFDE-63CE-4AF2-B98A-83C08F4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60ADB-E4AD-4366-991B-DF82AA9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5F2E6-12D8-4B87-B352-C57D6FCC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636B0-F81C-41A3-9824-7257304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2B6FD-CF17-4362-A5A5-A4634DC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BDA5B-772C-4A4B-B181-F6EDF80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5BAFD-A115-4E36-A10A-A832FC50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1A558-ABD7-46D4-B663-A3EDBAE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3150-DB40-476C-831A-833F9A91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Comms + 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03D7A-877D-4464-AB83-A3DEA34B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00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1AA05-AD02-49C6-8DD4-E403CBE2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5446D-D5D8-45E1-B385-2CF16D9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66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6EFFF-9E98-4A90-AE3B-C0C52515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GO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154FB8-6131-47DA-B075-DEDB2EE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100 / 100 readiness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Two-location pilot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10-day hypercare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2E9ADC-BCDC-489D-A105-073772A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Decision: proceed because approvals, data, UAT, training, support, and rollback evidence are complete.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AA7B16-5701-4173-8EE3-4017869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8FE2B-5778-4D73-91F9-6C4761E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5490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3454E-3B82-46A8-8FA2-56E1D42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LAUNCHREADY — SIMULATED 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96C6-571C-4945-A679-091A831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Simulated Day-30 results show how success would be measured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205A-DFFD-4850-AA5E-0916B4C0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535cf419e045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6933B-4495-4DBA-93C4-206EBF88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657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8CC1A-0901-4CDA-8423-E4C46966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WHAT THE METRICS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DB3C2-8398-478E-88BA-72C1A791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Faster completion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Fewer corrections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Better first-day readiness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Less coordination email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Strong pilot adoption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5AEDC-B75E-45A9-8F2F-F79C781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2DC79-F0F3-4BFF-BF71-1864D98B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366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0361E-BACE-46CA-9B37-A297074D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EDFA"/>
                </a:solidFill>
              </a:defRPr>
            </a:pPr>
            <a:r>
              <a:rPr sz="1200" b="1">
                <a:solidFill>
                  <a:srgbClr val="D0EDFA"/>
                </a:solidFill>
              </a:rPr>
              <a:t>WHAT THIS PROJECT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B4361-ECB7-447F-B4FF-29BA971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 can turn a messy operating process into traceable implementation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111F-650E-4968-B29E-4F56CFE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— Requirements and process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4BD0-F36D-47C1-A376-6558F32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— Project, risk, and decision coordination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4D173-AE53-4E2F-AD9A-F7F23CC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— Data validation and exception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E804A-02B4-4429-844E-DADD17B8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— UAT, defects, and launch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7BD6C-AF4A-4CBE-9D11-978EF854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— Training, handoff, and adoption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A280B-9578-4FEC-9823-75E73DBE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EDFA"/>
                </a:solidFill>
              </a:defRPr>
            </a:pPr>
            <a:r>
              <a:rPr sz="1275" b="1">
                <a:solidFill>
                  <a:srgbClr val="D0EDFA"/>
                </a:solidFill>
              </a:rPr>
              <a:t>Target roles: Implementation Analyst • Implementation Specialist • Business Analyst • Product Operations • UAT / QA •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C9787-7583-488E-B8F1-B2F37114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Independent simulated SaaS implementation — all data and outcomes are fictional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9AD7F-5791-435F-8DF8-81F19E4B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573"/>
                </a:solidFill>
              </a:defRPr>
            </a:pPr>
            <a:r>
              <a:rPr sz="825" b="1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1434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2026-09-02T16:13:15.3010000Z</dcterms:created>
  <dcterms:modified xsi:type="dcterms:W3CDTF">2026-09-02T16:13:15.3010000Z</dcterms:modified>
</coreProperties>
</file>